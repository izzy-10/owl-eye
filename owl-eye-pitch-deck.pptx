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02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Owl Eye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surveillance that turns the cameras you already own into a real-time detection network.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Durban, South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security stacks were built to keep records, not keep 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systems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alarms, and access control run on separate platforms, so nobody has the full picture until after an incident.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3088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2514600"/>
            <a:ext cx="502920" cy="50292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312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monitoring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can't watch forty feeds and catch the one thing that matters. Fatigue isn't a training problem, it's a math problem.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17536" y="2148840"/>
            <a:ext cx="3310128" cy="3291840"/>
          </a:xfrm>
          <a:prstGeom prst="roundRect">
            <a:avLst>
              <a:gd name="adj" fmla="val 1667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2514600"/>
            <a:ext cx="502920" cy="50292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37576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37576" y="3200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response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37576" y="374904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gets reviewed after the loss is already booked. By then it's evidence, not prevention.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cameras. New intelligence.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 layers real-time detection on top of the cameras already mounted on your walls. No hardware swap, no rewiring — just software that finally understands what it's looking 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56032" cy="256032"/>
          </a:xfrm>
          <a:prstGeom prst="ellipse">
            <a:avLst/>
          </a:prstGeom>
          <a:solidFill>
            <a:srgbClr val="D4A24E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930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 detection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D4A24E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959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intrusion alerts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256032" cy="256032"/>
          </a:xfrm>
          <a:prstGeom prst="ellipse">
            <a:avLst/>
          </a:prstGeom>
          <a:solidFill>
            <a:srgbClr val="D4A24E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57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98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Unsafe-behavior flagging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256032" cy="256032"/>
          </a:xfrm>
          <a:prstGeom prst="ellipse">
            <a:avLst/>
          </a:prstGeom>
          <a:solidFill>
            <a:srgbClr val="D4A24E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017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IP cameras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0A0A0C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DOCK — CAM 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0" y="1801368"/>
            <a:ext cx="109728" cy="109728"/>
          </a:xfrm>
          <a:prstGeom prst="ellipse">
            <a:avLst/>
          </a:prstGeom>
          <a:solidFill>
            <a:srgbClr val="D1453A"/>
          </a:solidFill>
          <a:ln w="15875">
            <a:solidFill>
              <a:srgbClr val="D145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5680" y="18013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744200" y="1746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0" name="Pin Head P1"/>
          <p:cNvSpPr/>
          <p:nvPr/>
        </p:nvSpPr>
        <p:spPr>
          <a:xfrm>
            <a:off x="7989580" y="3159000"/>
            <a:ext cx="160000" cy="160000"/>
          </a:xfrm>
          <a:prstGeom prst="ellipse">
            <a:avLst/>
          </a:prstGeom>
          <a:solidFill>
            <a:srgbClr val="D4A24E"/>
          </a:solidFill>
          <a:ln>
            <a:noFill/>
          </a:ln>
        </p:spPr>
      </p:sp>
      <p:sp>
        <p:nvSpPr>
          <p:cNvPr id="41" name="Pin Point P1"/>
          <p:cNvSpPr/>
          <p:nvPr/>
        </p:nvSpPr>
        <p:spPr>
          <a:xfrm flipV="1">
            <a:off x="8019580" y="3319000"/>
            <a:ext cx="100000" cy="110000"/>
          </a:xfrm>
          <a:prstGeom prst="triangle">
            <a:avLst/>
          </a:prstGeom>
          <a:solidFill>
            <a:srgbClr val="D4A24E"/>
          </a:solidFill>
          <a:ln>
            <a:noFill/>
          </a:ln>
        </p:spPr>
      </p:sp>
      <p:sp>
        <p:nvSpPr>
          <p:cNvPr id="42" name="Pin Head P2"/>
          <p:cNvSpPr/>
          <p:nvPr/>
        </p:nvSpPr>
        <p:spPr>
          <a:xfrm>
            <a:off x="9406900" y="3433320"/>
            <a:ext cx="160000" cy="160000"/>
          </a:xfrm>
          <a:prstGeom prst="ellipse">
            <a:avLst/>
          </a:prstGeom>
          <a:solidFill>
            <a:srgbClr val="D4A24E"/>
          </a:solidFill>
          <a:ln>
            <a:noFill/>
          </a:ln>
        </p:spPr>
      </p:sp>
      <p:sp>
        <p:nvSpPr>
          <p:cNvPr id="43" name="Pin Point P2"/>
          <p:cNvSpPr/>
          <p:nvPr/>
        </p:nvSpPr>
        <p:spPr>
          <a:xfrm flipV="1">
            <a:off x="9436900" y="3593320"/>
            <a:ext cx="100000" cy="110000"/>
          </a:xfrm>
          <a:prstGeom prst="triangle">
            <a:avLst/>
          </a:prstGeom>
          <a:solidFill>
            <a:srgbClr val="D4A24E"/>
          </a:solidFill>
          <a:ln>
            <a:noFill/>
          </a:ln>
        </p:spPr>
      </p:sp>
      <p:sp>
        <p:nvSpPr>
          <p:cNvPr id="44" name="Pin Head Alert"/>
          <p:cNvSpPr/>
          <p:nvPr/>
        </p:nvSpPr>
        <p:spPr>
          <a:xfrm>
            <a:off x="7646680" y="2381760"/>
            <a:ext cx="160000" cy="160000"/>
          </a:xfrm>
          <a:prstGeom prst="ellipse">
            <a:avLst/>
          </a:prstGeom>
          <a:solidFill>
            <a:srgbClr val="D1453A"/>
          </a:solidFill>
          <a:ln>
            <a:noFill/>
          </a:ln>
        </p:spPr>
      </p:sp>
      <p:sp>
        <p:nvSpPr>
          <p:cNvPr id="45" name="Pin Point Alert"/>
          <p:cNvSpPr/>
          <p:nvPr/>
        </p:nvSpPr>
        <p:spPr>
          <a:xfrm flipV="1">
            <a:off x="7676680" y="2541760"/>
            <a:ext cx="100000" cy="110000"/>
          </a:xfrm>
          <a:prstGeom prst="triangle">
            <a:avLst/>
          </a:prstGeom>
          <a:solidFill>
            <a:srgbClr val="D1453A"/>
          </a:solidFill>
          <a:ln>
            <a:noFill/>
          </a:ln>
        </p:spPr>
      </p:sp>
      <p:sp>
        <p:nvSpPr>
          <p:cNvPr id="50" name="Notice BG"/>
          <p:cNvSpPr/>
          <p:nvPr/>
        </p:nvSpPr>
        <p:spPr>
          <a:xfrm>
            <a:off x="9976104" y="2080824"/>
            <a:ext cx="1554480" cy="237744"/>
          </a:xfrm>
          <a:prstGeom prst="roundRect">
            <a:avLst>
              <a:gd name="adj" fmla="val 15000"/>
            </a:avLst>
          </a:prstGeom>
          <a:solidFill>
            <a:srgbClr val="141A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51" name="Notice Dot"/>
          <p:cNvSpPr/>
          <p:nvPr/>
        </p:nvSpPr>
        <p:spPr>
          <a:xfrm>
            <a:off x="10076688" y="2176836"/>
            <a:ext cx="45720" cy="45720"/>
          </a:xfrm>
          <a:prstGeom prst="ellipse">
            <a:avLst/>
          </a:prstGeom>
          <a:solidFill>
            <a:srgbClr val="D4A24E"/>
          </a:solidFill>
          <a:ln>
            <a:noFill/>
          </a:ln>
        </p:spPr>
      </p:sp>
      <p:sp>
        <p:nvSpPr>
          <p:cNvPr id="52" name="Notice Text"/>
          <p:cNvSpPr txBox="1"/>
          <p:nvPr/>
        </p:nvSpPr>
        <p:spPr>
          <a:xfrm>
            <a:off x="10168128" y="208082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TRACKED</a:t>
            </a:r>
            <a:endParaRPr lang="en-US" sz="800" dirty="0"/>
          </a:p>
        </p:txBody>
      </p:sp>
      <p:sp>
        <p:nvSpPr>
          <p:cNvPr id="53" name="Notice BG"/>
          <p:cNvSpPr/>
          <p:nvPr/>
        </p:nvSpPr>
        <p:spPr>
          <a:xfrm>
            <a:off x="9427464" y="2391720"/>
            <a:ext cx="2103120" cy="237744"/>
          </a:xfrm>
          <a:prstGeom prst="roundRect">
            <a:avLst>
              <a:gd name="adj" fmla="val 15000"/>
            </a:avLst>
          </a:prstGeom>
          <a:solidFill>
            <a:srgbClr val="141A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54" name="Notice Dot"/>
          <p:cNvSpPr/>
          <p:nvPr/>
        </p:nvSpPr>
        <p:spPr>
          <a:xfrm>
            <a:off x="9528048" y="2487732"/>
            <a:ext cx="45720" cy="45720"/>
          </a:xfrm>
          <a:prstGeom prst="ellipse">
            <a:avLst/>
          </a:prstGeom>
          <a:solidFill>
            <a:srgbClr val="D1453A"/>
          </a:solidFill>
          <a:ln>
            <a:noFill/>
          </a:ln>
        </p:spPr>
      </p:sp>
      <p:sp>
        <p:nvSpPr>
          <p:cNvPr id="55" name="Notice Text"/>
          <p:cNvSpPr txBox="1"/>
          <p:nvPr/>
        </p:nvSpPr>
        <p:spPr>
          <a:xfrm>
            <a:off x="9619488" y="239172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 · 23:41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760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feed, same camera — now it flags what a guard would've missed.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footage to a decision, in under a second.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9537192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existing cameras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If it outputs a stream, it can be upgraded.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640080" cy="64008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detection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and object detection run at the camera — only relevant frames move 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in the cloud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models classify what's happening — a delivery vs. an intrusion.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377440"/>
            <a:ext cx="640080" cy="64008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374904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camera, every alert, every clip — sorted by what needs a human now.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41A2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93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an update, not a swap.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51937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already output a standard stream (RTSP/ONVIF). We connect to that — nothing is rewired or replaced.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WATCHES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incidents that cost you money or safety.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&amp; smoke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286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pattern detection flags early smoke or flame before a heat sensor would trigger.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12680" y="24048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D1453A"/>
          </a:solidFill>
          <a:ln w="12700">
            <a:solidFill>
              <a:srgbClr val="D14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12680" y="2404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intrusion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200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vehicle crossing a defined boundary, day or night, gets flagged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12680" y="33192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D1453A"/>
          </a:solidFill>
          <a:ln w="12700">
            <a:solidFill>
              <a:srgbClr val="D145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12680" y="33192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behavior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114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PPE, loitering near restricted machinery, or a fall on the floor.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12680" y="42336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1A2138"/>
          </a:solidFill>
          <a:ln w="12700">
            <a:solidFill>
              <a:srgbClr val="E8C2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680" y="4233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After-hours access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5029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at a door or gate outside normal hours, matched against your schedule.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12680" y="5148072"/>
            <a:ext cx="1051560" cy="329184"/>
          </a:xfrm>
          <a:prstGeom prst="roundRect">
            <a:avLst>
              <a:gd name="adj" fmla="val 11111"/>
            </a:avLst>
          </a:prstGeom>
          <a:solidFill>
            <a:srgbClr val="1A2138"/>
          </a:solidFill>
          <a:ln w="12700">
            <a:solidFill>
              <a:srgbClr val="E8C2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12680" y="51480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changed, not just the technology.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AI-in-video-surveillance market is projected to grow from $4.1B (2020) to $9.7B by 2026 — and the economics now favor upgrading what you own over replacing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adding AI detection to existing cameras, vs. replacing hardware outright.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33088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monitoring workload once alerts are filtered by relevance.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17536" y="2788920"/>
            <a:ext cx="3310128" cy="2377440"/>
          </a:xfrm>
          <a:prstGeom prst="roundRect">
            <a:avLst>
              <a:gd name="adj" fmla="val 2308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7576" y="310896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yr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37576" y="40233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 after labor savings and one avoided incident.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live, and what's next.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on existing cameras — fire, smoke, and perimeter detection live on one site.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86200" y="2560320"/>
            <a:ext cx="219456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33088" y="2286000"/>
            <a:ext cx="548640" cy="54864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330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rollout with a unified dashboard and after-hours access alerts.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70648" y="2560320"/>
            <a:ext cx="219456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2286000"/>
            <a:ext cx="548640" cy="548640"/>
          </a:xfrm>
          <a:prstGeom prst="ellipse">
            <a:avLst/>
          </a:prstGeom>
          <a:solidFill>
            <a:srgbClr val="D4A24E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175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2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17536" y="3063240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— flagging risk patterns before an incident, not just during one.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B0E1A"/>
          </a:solidFill>
          <a:ln w="15875">
            <a:solidFill>
              <a:srgbClr val="D4A2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02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EYE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your own cameras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1ED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been missing.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a feed from one camera. We'll show you what it would have caught last week.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D4A2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walkthrough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Durban, South Africa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2026-09-05T23:42:28Z</dcterms:created>
  <dcterms:modified xsi:type="dcterms:W3CDTF">2026-09-05T23:42:28Z</dcterms:modified>
</cp:coreProperties>
</file>